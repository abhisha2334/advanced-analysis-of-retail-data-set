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8" r:id="rId3"/>
    <p:sldId id="259" r:id="rId4"/>
    <p:sldId id="260" r:id="rId5"/>
    <p:sldId id="266" r:id="rId6"/>
    <p:sldId id="262" r:id="rId7"/>
    <p:sldId id="263" r:id="rId8"/>
    <p:sldId id="264" r:id="rId9"/>
    <p:sldId id="265" r:id="rId10"/>
    <p:sldId id="267" r:id="rId11"/>
    <p:sldId id="268" r:id="rId12"/>
    <p:sldId id="261" r:id="rId13"/>
    <p:sldId id="257" r:id="rId1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45" d="100"/>
          <a:sy n="45" d="100"/>
        </p:scale>
        <p:origin x="1114" y="3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F0610A-C971-12C9-BC2C-CE0485773FDF}"/>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A61B4B65-F2ED-044C-5A6C-C8422986B55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D6C7AF71-8A80-FDE6-C26A-6E29B3EFC533}"/>
              </a:ext>
            </a:extLst>
          </p:cNvPr>
          <p:cNvSpPr>
            <a:spLocks noGrp="1"/>
          </p:cNvSpPr>
          <p:nvPr>
            <p:ph type="dt" sz="half" idx="10"/>
          </p:nvPr>
        </p:nvSpPr>
        <p:spPr/>
        <p:txBody>
          <a:bodyPr/>
          <a:lstStyle/>
          <a:p>
            <a:fld id="{AC391E8A-6465-4CE7-B4A9-0D8D7F9FE1D4}" type="datetimeFigureOut">
              <a:rPr lang="en-IN" smtClean="0"/>
              <a:t>17-08-2024</a:t>
            </a:fld>
            <a:endParaRPr lang="en-IN"/>
          </a:p>
        </p:txBody>
      </p:sp>
      <p:sp>
        <p:nvSpPr>
          <p:cNvPr id="5" name="Footer Placeholder 4">
            <a:extLst>
              <a:ext uri="{FF2B5EF4-FFF2-40B4-BE49-F238E27FC236}">
                <a16:creationId xmlns:a16="http://schemas.microsoft.com/office/drawing/2014/main" id="{88636088-2313-8CB2-B4B4-741E4DD6E438}"/>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42F648C3-EA5A-0E38-9CB1-180661C88A56}"/>
              </a:ext>
            </a:extLst>
          </p:cNvPr>
          <p:cNvSpPr>
            <a:spLocks noGrp="1"/>
          </p:cNvSpPr>
          <p:nvPr>
            <p:ph type="sldNum" sz="quarter" idx="12"/>
          </p:nvPr>
        </p:nvSpPr>
        <p:spPr/>
        <p:txBody>
          <a:bodyPr/>
          <a:lstStyle/>
          <a:p>
            <a:fld id="{61ED9801-FEB7-459E-B5DD-1EAE749CEAAE}" type="slidenum">
              <a:rPr lang="en-IN" smtClean="0"/>
              <a:t>‹#›</a:t>
            </a:fld>
            <a:endParaRPr lang="en-IN"/>
          </a:p>
        </p:txBody>
      </p:sp>
    </p:spTree>
    <p:extLst>
      <p:ext uri="{BB962C8B-B14F-4D97-AF65-F5344CB8AC3E}">
        <p14:creationId xmlns:p14="http://schemas.microsoft.com/office/powerpoint/2010/main" val="223075451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19335B-7906-8201-6087-D3DB0AC27C76}"/>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9C0B123D-D4A3-DBA9-8B8B-F6C9BD2D2B51}"/>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53890897-32C4-E9ED-EA5F-341E425A7101}"/>
              </a:ext>
            </a:extLst>
          </p:cNvPr>
          <p:cNvSpPr>
            <a:spLocks noGrp="1"/>
          </p:cNvSpPr>
          <p:nvPr>
            <p:ph type="dt" sz="half" idx="10"/>
          </p:nvPr>
        </p:nvSpPr>
        <p:spPr/>
        <p:txBody>
          <a:bodyPr/>
          <a:lstStyle/>
          <a:p>
            <a:fld id="{AC391E8A-6465-4CE7-B4A9-0D8D7F9FE1D4}" type="datetimeFigureOut">
              <a:rPr lang="en-IN" smtClean="0"/>
              <a:t>17-08-2024</a:t>
            </a:fld>
            <a:endParaRPr lang="en-IN"/>
          </a:p>
        </p:txBody>
      </p:sp>
      <p:sp>
        <p:nvSpPr>
          <p:cNvPr id="5" name="Footer Placeholder 4">
            <a:extLst>
              <a:ext uri="{FF2B5EF4-FFF2-40B4-BE49-F238E27FC236}">
                <a16:creationId xmlns:a16="http://schemas.microsoft.com/office/drawing/2014/main" id="{2DE4716B-264A-6982-42BB-0FDE36DD3C86}"/>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2EDF481D-B555-0106-6768-BAFEEFA22781}"/>
              </a:ext>
            </a:extLst>
          </p:cNvPr>
          <p:cNvSpPr>
            <a:spLocks noGrp="1"/>
          </p:cNvSpPr>
          <p:nvPr>
            <p:ph type="sldNum" sz="quarter" idx="12"/>
          </p:nvPr>
        </p:nvSpPr>
        <p:spPr/>
        <p:txBody>
          <a:bodyPr/>
          <a:lstStyle/>
          <a:p>
            <a:fld id="{61ED9801-FEB7-459E-B5DD-1EAE749CEAAE}" type="slidenum">
              <a:rPr lang="en-IN" smtClean="0"/>
              <a:t>‹#›</a:t>
            </a:fld>
            <a:endParaRPr lang="en-IN"/>
          </a:p>
        </p:txBody>
      </p:sp>
    </p:spTree>
    <p:extLst>
      <p:ext uri="{BB962C8B-B14F-4D97-AF65-F5344CB8AC3E}">
        <p14:creationId xmlns:p14="http://schemas.microsoft.com/office/powerpoint/2010/main" val="65042566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A18BC1-F7B6-AE4A-440B-29849D85ACC8}"/>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B66890DE-3B8B-0E1A-AE5C-7295016D059F}"/>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330B5A5E-4035-6536-E6E7-2F273BE0FECC}"/>
              </a:ext>
            </a:extLst>
          </p:cNvPr>
          <p:cNvSpPr>
            <a:spLocks noGrp="1"/>
          </p:cNvSpPr>
          <p:nvPr>
            <p:ph type="dt" sz="half" idx="10"/>
          </p:nvPr>
        </p:nvSpPr>
        <p:spPr/>
        <p:txBody>
          <a:bodyPr/>
          <a:lstStyle/>
          <a:p>
            <a:fld id="{AC391E8A-6465-4CE7-B4A9-0D8D7F9FE1D4}" type="datetimeFigureOut">
              <a:rPr lang="en-IN" smtClean="0"/>
              <a:t>17-08-2024</a:t>
            </a:fld>
            <a:endParaRPr lang="en-IN"/>
          </a:p>
        </p:txBody>
      </p:sp>
      <p:sp>
        <p:nvSpPr>
          <p:cNvPr id="5" name="Footer Placeholder 4">
            <a:extLst>
              <a:ext uri="{FF2B5EF4-FFF2-40B4-BE49-F238E27FC236}">
                <a16:creationId xmlns:a16="http://schemas.microsoft.com/office/drawing/2014/main" id="{A01088F2-84D9-012C-0BB0-E8C34627D362}"/>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7A31B49F-4382-18D7-B9B7-E30EACC84094}"/>
              </a:ext>
            </a:extLst>
          </p:cNvPr>
          <p:cNvSpPr>
            <a:spLocks noGrp="1"/>
          </p:cNvSpPr>
          <p:nvPr>
            <p:ph type="sldNum" sz="quarter" idx="12"/>
          </p:nvPr>
        </p:nvSpPr>
        <p:spPr/>
        <p:txBody>
          <a:bodyPr/>
          <a:lstStyle/>
          <a:p>
            <a:fld id="{61ED9801-FEB7-459E-B5DD-1EAE749CEAAE}" type="slidenum">
              <a:rPr lang="en-IN" smtClean="0"/>
              <a:t>‹#›</a:t>
            </a:fld>
            <a:endParaRPr lang="en-IN"/>
          </a:p>
        </p:txBody>
      </p:sp>
    </p:spTree>
    <p:extLst>
      <p:ext uri="{BB962C8B-B14F-4D97-AF65-F5344CB8AC3E}">
        <p14:creationId xmlns:p14="http://schemas.microsoft.com/office/powerpoint/2010/main" val="284128614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DD6565-2ABC-2778-E115-A33CC33FC73C}"/>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ED1FBE1B-2992-97BC-C73C-3CB7F17A2BC9}"/>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E8CC0160-DBD1-0926-779E-2629BAF219FD}"/>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37AEA0A1-3A5C-1929-E46A-792357FC3547}"/>
              </a:ext>
            </a:extLst>
          </p:cNvPr>
          <p:cNvSpPr>
            <a:spLocks noGrp="1"/>
          </p:cNvSpPr>
          <p:nvPr>
            <p:ph type="dt" sz="half" idx="10"/>
          </p:nvPr>
        </p:nvSpPr>
        <p:spPr/>
        <p:txBody>
          <a:bodyPr/>
          <a:lstStyle/>
          <a:p>
            <a:fld id="{AC391E8A-6465-4CE7-B4A9-0D8D7F9FE1D4}" type="datetimeFigureOut">
              <a:rPr lang="en-IN" smtClean="0"/>
              <a:t>17-08-2024</a:t>
            </a:fld>
            <a:endParaRPr lang="en-IN"/>
          </a:p>
        </p:txBody>
      </p:sp>
      <p:sp>
        <p:nvSpPr>
          <p:cNvPr id="6" name="Footer Placeholder 5">
            <a:extLst>
              <a:ext uri="{FF2B5EF4-FFF2-40B4-BE49-F238E27FC236}">
                <a16:creationId xmlns:a16="http://schemas.microsoft.com/office/drawing/2014/main" id="{31644C08-0D42-0EBE-1224-4D22D5DF34A5}"/>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EC0B956E-F8A0-51A5-DE08-D54A96A3BB8F}"/>
              </a:ext>
            </a:extLst>
          </p:cNvPr>
          <p:cNvSpPr>
            <a:spLocks noGrp="1"/>
          </p:cNvSpPr>
          <p:nvPr>
            <p:ph type="sldNum" sz="quarter" idx="12"/>
          </p:nvPr>
        </p:nvSpPr>
        <p:spPr/>
        <p:txBody>
          <a:bodyPr/>
          <a:lstStyle/>
          <a:p>
            <a:fld id="{61ED9801-FEB7-459E-B5DD-1EAE749CEAAE}" type="slidenum">
              <a:rPr lang="en-IN" smtClean="0"/>
              <a:t>‹#›</a:t>
            </a:fld>
            <a:endParaRPr lang="en-IN"/>
          </a:p>
        </p:txBody>
      </p:sp>
    </p:spTree>
    <p:extLst>
      <p:ext uri="{BB962C8B-B14F-4D97-AF65-F5344CB8AC3E}">
        <p14:creationId xmlns:p14="http://schemas.microsoft.com/office/powerpoint/2010/main" val="319433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721F62-E5FD-41EF-F87A-5F2A629C7FB5}"/>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4E37E419-634D-C4D0-05BC-21755384335A}"/>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28E62B97-C3A2-A3C0-B74D-31EA98E43A31}"/>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C80FCE6F-2494-3B49-2F18-2285AA9A9B80}"/>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75D16524-85F0-6622-9442-AAF7F80D200A}"/>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A54F8AE1-6811-3515-50E6-65C79F4047D2}"/>
              </a:ext>
            </a:extLst>
          </p:cNvPr>
          <p:cNvSpPr>
            <a:spLocks noGrp="1"/>
          </p:cNvSpPr>
          <p:nvPr>
            <p:ph type="dt" sz="half" idx="10"/>
          </p:nvPr>
        </p:nvSpPr>
        <p:spPr/>
        <p:txBody>
          <a:bodyPr/>
          <a:lstStyle/>
          <a:p>
            <a:fld id="{AC391E8A-6465-4CE7-B4A9-0D8D7F9FE1D4}" type="datetimeFigureOut">
              <a:rPr lang="en-IN" smtClean="0"/>
              <a:t>17-08-2024</a:t>
            </a:fld>
            <a:endParaRPr lang="en-IN"/>
          </a:p>
        </p:txBody>
      </p:sp>
      <p:sp>
        <p:nvSpPr>
          <p:cNvPr id="8" name="Footer Placeholder 7">
            <a:extLst>
              <a:ext uri="{FF2B5EF4-FFF2-40B4-BE49-F238E27FC236}">
                <a16:creationId xmlns:a16="http://schemas.microsoft.com/office/drawing/2014/main" id="{F1B592E6-5D46-7597-21B3-E94E63C06E9E}"/>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B5B29820-2B64-4CFA-DD0D-74C9C524D7C7}"/>
              </a:ext>
            </a:extLst>
          </p:cNvPr>
          <p:cNvSpPr>
            <a:spLocks noGrp="1"/>
          </p:cNvSpPr>
          <p:nvPr>
            <p:ph type="sldNum" sz="quarter" idx="12"/>
          </p:nvPr>
        </p:nvSpPr>
        <p:spPr/>
        <p:txBody>
          <a:bodyPr/>
          <a:lstStyle/>
          <a:p>
            <a:fld id="{61ED9801-FEB7-459E-B5DD-1EAE749CEAAE}" type="slidenum">
              <a:rPr lang="en-IN" smtClean="0"/>
              <a:t>‹#›</a:t>
            </a:fld>
            <a:endParaRPr lang="en-IN"/>
          </a:p>
        </p:txBody>
      </p:sp>
    </p:spTree>
    <p:extLst>
      <p:ext uri="{BB962C8B-B14F-4D97-AF65-F5344CB8AC3E}">
        <p14:creationId xmlns:p14="http://schemas.microsoft.com/office/powerpoint/2010/main" val="48555125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9FE3A4-12C8-90E5-4C51-CF2DD417E007}"/>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D8815579-C3DD-308B-2B64-FB75CC4F5BB1}"/>
              </a:ext>
            </a:extLst>
          </p:cNvPr>
          <p:cNvSpPr>
            <a:spLocks noGrp="1"/>
          </p:cNvSpPr>
          <p:nvPr>
            <p:ph type="dt" sz="half" idx="10"/>
          </p:nvPr>
        </p:nvSpPr>
        <p:spPr/>
        <p:txBody>
          <a:bodyPr/>
          <a:lstStyle/>
          <a:p>
            <a:fld id="{AC391E8A-6465-4CE7-B4A9-0D8D7F9FE1D4}" type="datetimeFigureOut">
              <a:rPr lang="en-IN" smtClean="0"/>
              <a:t>17-08-2024</a:t>
            </a:fld>
            <a:endParaRPr lang="en-IN"/>
          </a:p>
        </p:txBody>
      </p:sp>
      <p:sp>
        <p:nvSpPr>
          <p:cNvPr id="4" name="Footer Placeholder 3">
            <a:extLst>
              <a:ext uri="{FF2B5EF4-FFF2-40B4-BE49-F238E27FC236}">
                <a16:creationId xmlns:a16="http://schemas.microsoft.com/office/drawing/2014/main" id="{1E5639DF-9D95-E7A1-3841-7B4653105A48}"/>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25E7B147-240C-F027-2191-27CC943D30D3}"/>
              </a:ext>
            </a:extLst>
          </p:cNvPr>
          <p:cNvSpPr>
            <a:spLocks noGrp="1"/>
          </p:cNvSpPr>
          <p:nvPr>
            <p:ph type="sldNum" sz="quarter" idx="12"/>
          </p:nvPr>
        </p:nvSpPr>
        <p:spPr/>
        <p:txBody>
          <a:bodyPr/>
          <a:lstStyle/>
          <a:p>
            <a:fld id="{61ED9801-FEB7-459E-B5DD-1EAE749CEAAE}" type="slidenum">
              <a:rPr lang="en-IN" smtClean="0"/>
              <a:t>‹#›</a:t>
            </a:fld>
            <a:endParaRPr lang="en-IN"/>
          </a:p>
        </p:txBody>
      </p:sp>
    </p:spTree>
    <p:extLst>
      <p:ext uri="{BB962C8B-B14F-4D97-AF65-F5344CB8AC3E}">
        <p14:creationId xmlns:p14="http://schemas.microsoft.com/office/powerpoint/2010/main" val="350941305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8C580CEC-5E2B-4234-35B7-220BC12453F5}"/>
              </a:ext>
            </a:extLst>
          </p:cNvPr>
          <p:cNvSpPr>
            <a:spLocks noGrp="1"/>
          </p:cNvSpPr>
          <p:nvPr>
            <p:ph type="dt" sz="half" idx="10"/>
          </p:nvPr>
        </p:nvSpPr>
        <p:spPr/>
        <p:txBody>
          <a:bodyPr/>
          <a:lstStyle/>
          <a:p>
            <a:fld id="{AC391E8A-6465-4CE7-B4A9-0D8D7F9FE1D4}" type="datetimeFigureOut">
              <a:rPr lang="en-IN" smtClean="0"/>
              <a:t>17-08-2024</a:t>
            </a:fld>
            <a:endParaRPr lang="en-IN"/>
          </a:p>
        </p:txBody>
      </p:sp>
      <p:sp>
        <p:nvSpPr>
          <p:cNvPr id="3" name="Footer Placeholder 2">
            <a:extLst>
              <a:ext uri="{FF2B5EF4-FFF2-40B4-BE49-F238E27FC236}">
                <a16:creationId xmlns:a16="http://schemas.microsoft.com/office/drawing/2014/main" id="{1BB537E1-7323-E0CF-2312-1F7C388CD77E}"/>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8611842B-E36B-575A-917C-C9CB5FA4F5B6}"/>
              </a:ext>
            </a:extLst>
          </p:cNvPr>
          <p:cNvSpPr>
            <a:spLocks noGrp="1"/>
          </p:cNvSpPr>
          <p:nvPr>
            <p:ph type="sldNum" sz="quarter" idx="12"/>
          </p:nvPr>
        </p:nvSpPr>
        <p:spPr/>
        <p:txBody>
          <a:bodyPr/>
          <a:lstStyle/>
          <a:p>
            <a:fld id="{61ED9801-FEB7-459E-B5DD-1EAE749CEAAE}" type="slidenum">
              <a:rPr lang="en-IN" smtClean="0"/>
              <a:t>‹#›</a:t>
            </a:fld>
            <a:endParaRPr lang="en-IN"/>
          </a:p>
        </p:txBody>
      </p:sp>
    </p:spTree>
    <p:extLst>
      <p:ext uri="{BB962C8B-B14F-4D97-AF65-F5344CB8AC3E}">
        <p14:creationId xmlns:p14="http://schemas.microsoft.com/office/powerpoint/2010/main" val="199656165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8F2C9E-453E-587D-E87A-C59B1D4B47A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1F684D85-0874-33D7-A76F-BF47F0AB23D0}"/>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1ACD6B73-46A1-B392-DC45-1FA8DB94B6A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240E8C5-3119-87D4-507D-A3030D5DCD43}"/>
              </a:ext>
            </a:extLst>
          </p:cNvPr>
          <p:cNvSpPr>
            <a:spLocks noGrp="1"/>
          </p:cNvSpPr>
          <p:nvPr>
            <p:ph type="dt" sz="half" idx="10"/>
          </p:nvPr>
        </p:nvSpPr>
        <p:spPr/>
        <p:txBody>
          <a:bodyPr/>
          <a:lstStyle/>
          <a:p>
            <a:fld id="{AC391E8A-6465-4CE7-B4A9-0D8D7F9FE1D4}" type="datetimeFigureOut">
              <a:rPr lang="en-IN" smtClean="0"/>
              <a:t>17-08-2024</a:t>
            </a:fld>
            <a:endParaRPr lang="en-IN"/>
          </a:p>
        </p:txBody>
      </p:sp>
      <p:sp>
        <p:nvSpPr>
          <p:cNvPr id="6" name="Footer Placeholder 5">
            <a:extLst>
              <a:ext uri="{FF2B5EF4-FFF2-40B4-BE49-F238E27FC236}">
                <a16:creationId xmlns:a16="http://schemas.microsoft.com/office/drawing/2014/main" id="{1F2D3C2A-BDC4-1A74-4F16-6C76CD0AA012}"/>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7AB804C6-4D91-600E-A0CC-CD79C696C157}"/>
              </a:ext>
            </a:extLst>
          </p:cNvPr>
          <p:cNvSpPr>
            <a:spLocks noGrp="1"/>
          </p:cNvSpPr>
          <p:nvPr>
            <p:ph type="sldNum" sz="quarter" idx="12"/>
          </p:nvPr>
        </p:nvSpPr>
        <p:spPr/>
        <p:txBody>
          <a:bodyPr/>
          <a:lstStyle/>
          <a:p>
            <a:fld id="{61ED9801-FEB7-459E-B5DD-1EAE749CEAAE}" type="slidenum">
              <a:rPr lang="en-IN" smtClean="0"/>
              <a:t>‹#›</a:t>
            </a:fld>
            <a:endParaRPr lang="en-IN"/>
          </a:p>
        </p:txBody>
      </p:sp>
    </p:spTree>
    <p:extLst>
      <p:ext uri="{BB962C8B-B14F-4D97-AF65-F5344CB8AC3E}">
        <p14:creationId xmlns:p14="http://schemas.microsoft.com/office/powerpoint/2010/main" val="63355711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C979DE-F965-01D0-8DC5-89E78BC69B7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7C4A8EAA-80C4-99C9-E517-8ABE2C4CDC4A}"/>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028141FA-3E70-E280-AA8E-A4CAB8BDDAB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E62D44A-C888-15F2-F2FF-D5A917864FD5}"/>
              </a:ext>
            </a:extLst>
          </p:cNvPr>
          <p:cNvSpPr>
            <a:spLocks noGrp="1"/>
          </p:cNvSpPr>
          <p:nvPr>
            <p:ph type="dt" sz="half" idx="10"/>
          </p:nvPr>
        </p:nvSpPr>
        <p:spPr/>
        <p:txBody>
          <a:bodyPr/>
          <a:lstStyle/>
          <a:p>
            <a:fld id="{AC391E8A-6465-4CE7-B4A9-0D8D7F9FE1D4}" type="datetimeFigureOut">
              <a:rPr lang="en-IN" smtClean="0"/>
              <a:t>17-08-2024</a:t>
            </a:fld>
            <a:endParaRPr lang="en-IN"/>
          </a:p>
        </p:txBody>
      </p:sp>
      <p:sp>
        <p:nvSpPr>
          <p:cNvPr id="6" name="Footer Placeholder 5">
            <a:extLst>
              <a:ext uri="{FF2B5EF4-FFF2-40B4-BE49-F238E27FC236}">
                <a16:creationId xmlns:a16="http://schemas.microsoft.com/office/drawing/2014/main" id="{60D79A82-EA39-DEAD-5C8C-D55B5E746B2C}"/>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45F0E54B-1014-2163-350F-A35D39987C06}"/>
              </a:ext>
            </a:extLst>
          </p:cNvPr>
          <p:cNvSpPr>
            <a:spLocks noGrp="1"/>
          </p:cNvSpPr>
          <p:nvPr>
            <p:ph type="sldNum" sz="quarter" idx="12"/>
          </p:nvPr>
        </p:nvSpPr>
        <p:spPr/>
        <p:txBody>
          <a:bodyPr/>
          <a:lstStyle/>
          <a:p>
            <a:fld id="{61ED9801-FEB7-459E-B5DD-1EAE749CEAAE}" type="slidenum">
              <a:rPr lang="en-IN" smtClean="0"/>
              <a:t>‹#›</a:t>
            </a:fld>
            <a:endParaRPr lang="en-IN"/>
          </a:p>
        </p:txBody>
      </p:sp>
    </p:spTree>
    <p:extLst>
      <p:ext uri="{BB962C8B-B14F-4D97-AF65-F5344CB8AC3E}">
        <p14:creationId xmlns:p14="http://schemas.microsoft.com/office/powerpoint/2010/main" val="86263649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1A367E-27AD-DF14-F96A-CA4D10EBB2C8}"/>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B3D0AEFB-00A6-C099-2150-E4F699BF22BA}"/>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1E9A36CC-2D13-CA14-053B-2DC847FFFE3B}"/>
              </a:ext>
            </a:extLst>
          </p:cNvPr>
          <p:cNvSpPr>
            <a:spLocks noGrp="1"/>
          </p:cNvSpPr>
          <p:nvPr>
            <p:ph type="dt" sz="half" idx="10"/>
          </p:nvPr>
        </p:nvSpPr>
        <p:spPr/>
        <p:txBody>
          <a:bodyPr/>
          <a:lstStyle/>
          <a:p>
            <a:fld id="{AC391E8A-6465-4CE7-B4A9-0D8D7F9FE1D4}" type="datetimeFigureOut">
              <a:rPr lang="en-IN" smtClean="0"/>
              <a:t>17-08-2024</a:t>
            </a:fld>
            <a:endParaRPr lang="en-IN"/>
          </a:p>
        </p:txBody>
      </p:sp>
      <p:sp>
        <p:nvSpPr>
          <p:cNvPr id="5" name="Footer Placeholder 4">
            <a:extLst>
              <a:ext uri="{FF2B5EF4-FFF2-40B4-BE49-F238E27FC236}">
                <a16:creationId xmlns:a16="http://schemas.microsoft.com/office/drawing/2014/main" id="{A3DCF23B-7381-A046-21F2-0576BE9EC154}"/>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3C1AA1FD-68A4-F760-84E8-092962E487E6}"/>
              </a:ext>
            </a:extLst>
          </p:cNvPr>
          <p:cNvSpPr>
            <a:spLocks noGrp="1"/>
          </p:cNvSpPr>
          <p:nvPr>
            <p:ph type="sldNum" sz="quarter" idx="12"/>
          </p:nvPr>
        </p:nvSpPr>
        <p:spPr/>
        <p:txBody>
          <a:bodyPr/>
          <a:lstStyle/>
          <a:p>
            <a:fld id="{61ED9801-FEB7-459E-B5DD-1EAE749CEAAE}" type="slidenum">
              <a:rPr lang="en-IN" smtClean="0"/>
              <a:t>‹#›</a:t>
            </a:fld>
            <a:endParaRPr lang="en-IN"/>
          </a:p>
        </p:txBody>
      </p:sp>
    </p:spTree>
    <p:extLst>
      <p:ext uri="{BB962C8B-B14F-4D97-AF65-F5344CB8AC3E}">
        <p14:creationId xmlns:p14="http://schemas.microsoft.com/office/powerpoint/2010/main" val="294202748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91D51EDD-9EFD-79D9-E7BE-F4EAA789F30F}"/>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98281D80-0C0C-D964-1A00-8D0B0E12495B}"/>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2048F59E-ABA0-6B63-1FD2-8ECD7D589AE4}"/>
              </a:ext>
            </a:extLst>
          </p:cNvPr>
          <p:cNvSpPr>
            <a:spLocks noGrp="1"/>
          </p:cNvSpPr>
          <p:nvPr>
            <p:ph type="dt" sz="half" idx="10"/>
          </p:nvPr>
        </p:nvSpPr>
        <p:spPr/>
        <p:txBody>
          <a:bodyPr/>
          <a:lstStyle/>
          <a:p>
            <a:fld id="{AC391E8A-6465-4CE7-B4A9-0D8D7F9FE1D4}" type="datetimeFigureOut">
              <a:rPr lang="en-IN" smtClean="0"/>
              <a:t>17-08-2024</a:t>
            </a:fld>
            <a:endParaRPr lang="en-IN"/>
          </a:p>
        </p:txBody>
      </p:sp>
      <p:sp>
        <p:nvSpPr>
          <p:cNvPr id="5" name="Footer Placeholder 4">
            <a:extLst>
              <a:ext uri="{FF2B5EF4-FFF2-40B4-BE49-F238E27FC236}">
                <a16:creationId xmlns:a16="http://schemas.microsoft.com/office/drawing/2014/main" id="{3BD9C715-64A3-2946-77E3-E6E58852B2A6}"/>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BBB1DB37-41A6-5891-B539-289F23393DAA}"/>
              </a:ext>
            </a:extLst>
          </p:cNvPr>
          <p:cNvSpPr>
            <a:spLocks noGrp="1"/>
          </p:cNvSpPr>
          <p:nvPr>
            <p:ph type="sldNum" sz="quarter" idx="12"/>
          </p:nvPr>
        </p:nvSpPr>
        <p:spPr/>
        <p:txBody>
          <a:bodyPr/>
          <a:lstStyle/>
          <a:p>
            <a:fld id="{61ED9801-FEB7-459E-B5DD-1EAE749CEAAE}" type="slidenum">
              <a:rPr lang="en-IN" smtClean="0"/>
              <a:t>‹#›</a:t>
            </a:fld>
            <a:endParaRPr lang="en-IN"/>
          </a:p>
        </p:txBody>
      </p:sp>
    </p:spTree>
    <p:extLst>
      <p:ext uri="{BB962C8B-B14F-4D97-AF65-F5344CB8AC3E}">
        <p14:creationId xmlns:p14="http://schemas.microsoft.com/office/powerpoint/2010/main" val="278364383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62C21258-1E0D-9160-2C74-88B355D4BC8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296B2913-49C6-3D96-C0B4-2B5B77039C9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252E5ED0-AD09-0A28-31A2-A1C78DE6E13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C391E8A-6465-4CE7-B4A9-0D8D7F9FE1D4}" type="datetimeFigureOut">
              <a:rPr lang="en-IN" smtClean="0"/>
              <a:t>17-08-2024</a:t>
            </a:fld>
            <a:endParaRPr lang="en-IN"/>
          </a:p>
        </p:txBody>
      </p:sp>
      <p:sp>
        <p:nvSpPr>
          <p:cNvPr id="5" name="Footer Placeholder 4">
            <a:extLst>
              <a:ext uri="{FF2B5EF4-FFF2-40B4-BE49-F238E27FC236}">
                <a16:creationId xmlns:a16="http://schemas.microsoft.com/office/drawing/2014/main" id="{E639C439-9302-78FD-1EAD-7CF75608C22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3E22C583-599F-2C7B-82E0-3DCA59C8BEB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1ED9801-FEB7-459E-B5DD-1EAE749CEAAE}" type="slidenum">
              <a:rPr lang="en-IN" smtClean="0"/>
              <a:t>‹#›</a:t>
            </a:fld>
            <a:endParaRPr lang="en-IN"/>
          </a:p>
        </p:txBody>
      </p:sp>
    </p:spTree>
    <p:extLst>
      <p:ext uri="{BB962C8B-B14F-4D97-AF65-F5344CB8AC3E}">
        <p14:creationId xmlns:p14="http://schemas.microsoft.com/office/powerpoint/2010/main" val="130943402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3" Type="http://schemas.openxmlformats.org/officeDocument/2006/relationships/slide" Target="slide13.xml"/><Relationship Id="rId2" Type="http://schemas.openxmlformats.org/officeDocument/2006/relationships/image" Target="../media/image18.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8C3991-D0F7-D311-8793-32804E238853}"/>
              </a:ext>
            </a:extLst>
          </p:cNvPr>
          <p:cNvSpPr>
            <a:spLocks noGrp="1"/>
          </p:cNvSpPr>
          <p:nvPr>
            <p:ph type="ctrTitle"/>
          </p:nvPr>
        </p:nvSpPr>
        <p:spPr/>
        <p:txBody>
          <a:bodyPr/>
          <a:lstStyle/>
          <a:p>
            <a:r>
              <a:rPr lang="en-IN" dirty="0"/>
              <a:t>INTERNSHIP PROJECT</a:t>
            </a:r>
          </a:p>
        </p:txBody>
      </p:sp>
      <p:sp>
        <p:nvSpPr>
          <p:cNvPr id="3" name="Subtitle 2">
            <a:extLst>
              <a:ext uri="{FF2B5EF4-FFF2-40B4-BE49-F238E27FC236}">
                <a16:creationId xmlns:a16="http://schemas.microsoft.com/office/drawing/2014/main" id="{AFCC01CD-7BEB-BC6D-BF5C-8BFA79BC2323}"/>
              </a:ext>
            </a:extLst>
          </p:cNvPr>
          <p:cNvSpPr>
            <a:spLocks noGrp="1"/>
          </p:cNvSpPr>
          <p:nvPr>
            <p:ph type="subTitle" idx="1"/>
          </p:nvPr>
        </p:nvSpPr>
        <p:spPr/>
        <p:txBody>
          <a:bodyPr/>
          <a:lstStyle/>
          <a:p>
            <a:r>
              <a:rPr lang="en-IN" dirty="0"/>
              <a:t>                                                                                -ABHISHA OLI</a:t>
            </a:r>
          </a:p>
        </p:txBody>
      </p:sp>
    </p:spTree>
    <p:extLst>
      <p:ext uri="{BB962C8B-B14F-4D97-AF65-F5344CB8AC3E}">
        <p14:creationId xmlns:p14="http://schemas.microsoft.com/office/powerpoint/2010/main" val="72466145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011667-E79E-9C8E-E22B-A93BB43EF6C4}"/>
              </a:ext>
            </a:extLst>
          </p:cNvPr>
          <p:cNvSpPr>
            <a:spLocks noGrp="1"/>
          </p:cNvSpPr>
          <p:nvPr>
            <p:ph type="title"/>
          </p:nvPr>
        </p:nvSpPr>
        <p:spPr/>
        <p:txBody>
          <a:bodyPr/>
          <a:lstStyle/>
          <a:p>
            <a:r>
              <a:rPr lang="en-IN" b="1" dirty="0"/>
              <a:t>OBJECTIVE:</a:t>
            </a:r>
          </a:p>
        </p:txBody>
      </p:sp>
      <p:sp>
        <p:nvSpPr>
          <p:cNvPr id="3" name="Content Placeholder 2">
            <a:extLst>
              <a:ext uri="{FF2B5EF4-FFF2-40B4-BE49-F238E27FC236}">
                <a16:creationId xmlns:a16="http://schemas.microsoft.com/office/drawing/2014/main" id="{ACA76F37-B98E-62CC-502A-E3B172400520}"/>
              </a:ext>
            </a:extLst>
          </p:cNvPr>
          <p:cNvSpPr>
            <a:spLocks noGrp="1"/>
          </p:cNvSpPr>
          <p:nvPr>
            <p:ph idx="1"/>
          </p:nvPr>
        </p:nvSpPr>
        <p:spPr/>
        <p:txBody>
          <a:bodyPr/>
          <a:lstStyle/>
          <a:p>
            <a:pPr marL="0" indent="0">
              <a:buNone/>
            </a:pPr>
            <a:r>
              <a:rPr lang="en-US" dirty="0"/>
              <a:t>The primary goal of this project is to analyze sales data to identify key trends and patterns that could help the retail chain optimize its operations, improve customer satisfaction, and boost profitability.</a:t>
            </a:r>
          </a:p>
          <a:p>
            <a:r>
              <a:rPr lang="en-US" b="1" dirty="0"/>
              <a:t>Tools Used</a:t>
            </a:r>
            <a:r>
              <a:rPr lang="en-US" dirty="0"/>
              <a:t>:</a:t>
            </a:r>
          </a:p>
          <a:p>
            <a:pPr>
              <a:buFont typeface="Arial" panose="020B0604020202020204" pitchFamily="34" charset="0"/>
              <a:buChar char="•"/>
            </a:pPr>
            <a:r>
              <a:rPr lang="en-US" b="1" dirty="0"/>
              <a:t>Python</a:t>
            </a:r>
            <a:r>
              <a:rPr lang="en-US" dirty="0"/>
              <a:t>: For data manipulation, cleaning, and advanced analysis.</a:t>
            </a:r>
          </a:p>
          <a:p>
            <a:pPr>
              <a:buFont typeface="Arial" panose="020B0604020202020204" pitchFamily="34" charset="0"/>
              <a:buChar char="•"/>
            </a:pPr>
            <a:r>
              <a:rPr lang="en-US" b="1" dirty="0"/>
              <a:t>SQL</a:t>
            </a:r>
            <a:r>
              <a:rPr lang="en-US" dirty="0"/>
              <a:t>: For database management, querying, and basic analysis.</a:t>
            </a:r>
          </a:p>
          <a:p>
            <a:pPr>
              <a:buFont typeface="Arial" panose="020B0604020202020204" pitchFamily="34" charset="0"/>
              <a:buChar char="•"/>
            </a:pPr>
            <a:r>
              <a:rPr lang="en-US" b="1" dirty="0"/>
              <a:t>Excel</a:t>
            </a:r>
            <a:r>
              <a:rPr lang="en-US" dirty="0"/>
              <a:t>: For final reporting and data visualization</a:t>
            </a:r>
          </a:p>
          <a:p>
            <a:endParaRPr lang="en-IN" dirty="0"/>
          </a:p>
        </p:txBody>
      </p:sp>
    </p:spTree>
    <p:extLst>
      <p:ext uri="{BB962C8B-B14F-4D97-AF65-F5344CB8AC3E}">
        <p14:creationId xmlns:p14="http://schemas.microsoft.com/office/powerpoint/2010/main" val="230712629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38D54B-C9AE-61FD-ADB4-E04E50B0A140}"/>
              </a:ext>
            </a:extLst>
          </p:cNvPr>
          <p:cNvSpPr>
            <a:spLocks noGrp="1"/>
          </p:cNvSpPr>
          <p:nvPr>
            <p:ph type="title"/>
          </p:nvPr>
        </p:nvSpPr>
        <p:spPr>
          <a:xfrm>
            <a:off x="838200" y="365125"/>
            <a:ext cx="6934200" cy="1364284"/>
          </a:xfrm>
        </p:spPr>
        <p:txBody>
          <a:bodyPr>
            <a:normAutofit fontScale="90000"/>
          </a:bodyPr>
          <a:lstStyle/>
          <a:p>
            <a:r>
              <a:rPr lang="en-IN" b="1" dirty="0"/>
              <a:t>SUMMARY TABLE BY USING SQL QUERIES</a:t>
            </a:r>
            <a:br>
              <a:rPr lang="en-IN" b="1" dirty="0"/>
            </a:br>
            <a:r>
              <a:rPr lang="en-IN" b="1" dirty="0"/>
              <a:t>Doing basic analysis: </a:t>
            </a:r>
          </a:p>
        </p:txBody>
      </p:sp>
      <p:sp>
        <p:nvSpPr>
          <p:cNvPr id="7" name="Content Placeholder 6">
            <a:extLst>
              <a:ext uri="{FF2B5EF4-FFF2-40B4-BE49-F238E27FC236}">
                <a16:creationId xmlns:a16="http://schemas.microsoft.com/office/drawing/2014/main" id="{81EAA91E-5DAE-9551-D051-ACAAC216BBF7}"/>
              </a:ext>
            </a:extLst>
          </p:cNvPr>
          <p:cNvSpPr>
            <a:spLocks noGrp="1"/>
          </p:cNvSpPr>
          <p:nvPr>
            <p:ph idx="1"/>
          </p:nvPr>
        </p:nvSpPr>
        <p:spPr/>
        <p:txBody>
          <a:bodyPr/>
          <a:lstStyle/>
          <a:p>
            <a:endParaRPr lang="en-IN"/>
          </a:p>
        </p:txBody>
      </p:sp>
      <p:pic>
        <p:nvPicPr>
          <p:cNvPr id="9" name="Picture 8">
            <a:extLst>
              <a:ext uri="{FF2B5EF4-FFF2-40B4-BE49-F238E27FC236}">
                <a16:creationId xmlns:a16="http://schemas.microsoft.com/office/drawing/2014/main" id="{EB034A3D-238D-B9E5-85AE-CE5C043EB7A0}"/>
              </a:ext>
            </a:extLst>
          </p:cNvPr>
          <p:cNvPicPr>
            <a:picLocks noChangeAspect="1"/>
          </p:cNvPicPr>
          <p:nvPr/>
        </p:nvPicPr>
        <p:blipFill>
          <a:blip r:embed="rId2"/>
          <a:stretch>
            <a:fillRect/>
          </a:stretch>
        </p:blipFill>
        <p:spPr>
          <a:xfrm>
            <a:off x="838199" y="1825624"/>
            <a:ext cx="9647583" cy="5032375"/>
          </a:xfrm>
          <a:prstGeom prst="rect">
            <a:avLst/>
          </a:prstGeom>
        </p:spPr>
      </p:pic>
    </p:spTree>
    <p:extLst>
      <p:ext uri="{BB962C8B-B14F-4D97-AF65-F5344CB8AC3E}">
        <p14:creationId xmlns:p14="http://schemas.microsoft.com/office/powerpoint/2010/main" val="317231213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02E1273-C2ED-6A3F-D32A-89E77AB79AC7}"/>
              </a:ext>
            </a:extLst>
          </p:cNvPr>
          <p:cNvSpPr>
            <a:spLocks noGrp="1"/>
          </p:cNvSpPr>
          <p:nvPr>
            <p:ph idx="1"/>
          </p:nvPr>
        </p:nvSpPr>
        <p:spPr>
          <a:xfrm>
            <a:off x="838200" y="477078"/>
            <a:ext cx="10515600" cy="5699885"/>
          </a:xfrm>
        </p:spPr>
        <p:txBody>
          <a:bodyPr/>
          <a:lstStyle/>
          <a:p>
            <a:r>
              <a:rPr lang="en-US" sz="2400" b="1" dirty="0"/>
              <a:t>Exported the results to CSV and directly loaded them into Python for further processing.</a:t>
            </a:r>
          </a:p>
          <a:p>
            <a:r>
              <a:rPr lang="en-IN" sz="2400" b="1" dirty="0"/>
              <a:t>Used pandas to clean and format the data:</a:t>
            </a:r>
          </a:p>
          <a:p>
            <a:endParaRPr lang="en-IN" dirty="0"/>
          </a:p>
        </p:txBody>
      </p:sp>
      <p:pic>
        <p:nvPicPr>
          <p:cNvPr id="7" name="Picture 6">
            <a:extLst>
              <a:ext uri="{FF2B5EF4-FFF2-40B4-BE49-F238E27FC236}">
                <a16:creationId xmlns:a16="http://schemas.microsoft.com/office/drawing/2014/main" id="{3EF0A786-D744-EEF6-84D5-1ADA05A7FC0F}"/>
              </a:ext>
            </a:extLst>
          </p:cNvPr>
          <p:cNvPicPr>
            <a:picLocks noChangeAspect="1"/>
          </p:cNvPicPr>
          <p:nvPr/>
        </p:nvPicPr>
        <p:blipFill>
          <a:blip r:embed="rId2"/>
          <a:stretch>
            <a:fillRect/>
          </a:stretch>
        </p:blipFill>
        <p:spPr>
          <a:xfrm>
            <a:off x="820958" y="1938130"/>
            <a:ext cx="6206007" cy="4919870"/>
          </a:xfrm>
          <a:prstGeom prst="rect">
            <a:avLst/>
          </a:prstGeom>
        </p:spPr>
      </p:pic>
      <p:pic>
        <p:nvPicPr>
          <p:cNvPr id="9" name="Picture 8">
            <a:extLst>
              <a:ext uri="{FF2B5EF4-FFF2-40B4-BE49-F238E27FC236}">
                <a16:creationId xmlns:a16="http://schemas.microsoft.com/office/drawing/2014/main" id="{C700EAD4-8169-21F3-11F7-CEEC243CAFA9}"/>
              </a:ext>
            </a:extLst>
          </p:cNvPr>
          <p:cNvPicPr>
            <a:picLocks noChangeAspect="1"/>
          </p:cNvPicPr>
          <p:nvPr/>
        </p:nvPicPr>
        <p:blipFill>
          <a:blip r:embed="rId3"/>
          <a:stretch>
            <a:fillRect/>
          </a:stretch>
        </p:blipFill>
        <p:spPr>
          <a:xfrm>
            <a:off x="5276002" y="1938130"/>
            <a:ext cx="6077798" cy="4707181"/>
          </a:xfrm>
          <a:prstGeom prst="rect">
            <a:avLst/>
          </a:prstGeom>
        </p:spPr>
      </p:pic>
    </p:spTree>
    <p:extLst>
      <p:ext uri="{BB962C8B-B14F-4D97-AF65-F5344CB8AC3E}">
        <p14:creationId xmlns:p14="http://schemas.microsoft.com/office/powerpoint/2010/main" val="98086638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 name="Content Placeholder 16">
            <a:extLst>
              <a:ext uri="{FF2B5EF4-FFF2-40B4-BE49-F238E27FC236}">
                <a16:creationId xmlns:a16="http://schemas.microsoft.com/office/drawing/2014/main" id="{39F336C8-A284-6F1B-7C96-4617CD6EF58E}"/>
              </a:ext>
            </a:extLst>
          </p:cNvPr>
          <p:cNvPicPr>
            <a:picLocks noGrp="1" noChangeAspect="1"/>
          </p:cNvPicPr>
          <p:nvPr>
            <p:ph idx="4294967295"/>
          </p:nvPr>
        </p:nvPicPr>
        <p:blipFill>
          <a:blip r:embed="rId2"/>
          <a:stretch>
            <a:fillRect/>
          </a:stretch>
        </p:blipFill>
        <p:spPr>
          <a:xfrm>
            <a:off x="0" y="1590675"/>
            <a:ext cx="5654675" cy="5267325"/>
          </a:xfrm>
        </p:spPr>
      </p:pic>
      <p:sp>
        <p:nvSpPr>
          <p:cNvPr id="20" name="Title 19">
            <a:extLst>
              <a:ext uri="{FF2B5EF4-FFF2-40B4-BE49-F238E27FC236}">
                <a16:creationId xmlns:a16="http://schemas.microsoft.com/office/drawing/2014/main" id="{EC187DBD-61FF-2544-5B63-38F54BB36CFF}"/>
              </a:ext>
            </a:extLst>
          </p:cNvPr>
          <p:cNvSpPr>
            <a:spLocks noGrp="1"/>
          </p:cNvSpPr>
          <p:nvPr>
            <p:ph type="title" idx="4294967295"/>
          </p:nvPr>
        </p:nvSpPr>
        <p:spPr>
          <a:xfrm>
            <a:off x="0" y="185738"/>
            <a:ext cx="11887200" cy="1325562"/>
          </a:xfrm>
        </p:spPr>
        <p:txBody>
          <a:bodyPr>
            <a:normAutofit/>
          </a:bodyPr>
          <a:lstStyle/>
          <a:p>
            <a:r>
              <a:rPr lang="en-IN" sz="2400" b="1" u="sng" dirty="0"/>
              <a:t>Exploring Data types, shape, head &amp;tail</a:t>
            </a:r>
            <a:r>
              <a:rPr lang="en-IN" sz="2400" b="1" dirty="0"/>
              <a:t>               </a:t>
            </a:r>
            <a:r>
              <a:rPr lang="en-IN" sz="2400" b="1" u="sng" dirty="0"/>
              <a:t>Finding missing values and </a:t>
            </a:r>
            <a:r>
              <a:rPr lang="en-IN" sz="2400" b="1" u="sng" dirty="0" err="1"/>
              <a:t>droping</a:t>
            </a:r>
            <a:r>
              <a:rPr lang="en-IN" sz="2400" b="1" u="sng" dirty="0"/>
              <a:t> the null values</a:t>
            </a:r>
            <a:br>
              <a:rPr lang="en-IN" sz="2400" b="1" dirty="0"/>
            </a:br>
            <a:r>
              <a:rPr lang="en-IN" sz="2400" b="1" u="sng" dirty="0"/>
              <a:t>   and statistical values of the data.</a:t>
            </a:r>
          </a:p>
        </p:txBody>
      </p:sp>
      <p:pic>
        <p:nvPicPr>
          <p:cNvPr id="19" name="Picture 18">
            <a:extLst>
              <a:ext uri="{FF2B5EF4-FFF2-40B4-BE49-F238E27FC236}">
                <a16:creationId xmlns:a16="http://schemas.microsoft.com/office/drawing/2014/main" id="{6AE2BEFF-D166-4E02-B1CC-7357969E59C4}"/>
              </a:ext>
            </a:extLst>
          </p:cNvPr>
          <p:cNvPicPr>
            <a:picLocks noChangeAspect="1"/>
          </p:cNvPicPr>
          <p:nvPr/>
        </p:nvPicPr>
        <p:blipFill>
          <a:blip r:embed="rId3"/>
          <a:stretch>
            <a:fillRect/>
          </a:stretch>
        </p:blipFill>
        <p:spPr>
          <a:xfrm>
            <a:off x="5655367" y="1590261"/>
            <a:ext cx="6000750" cy="6331226"/>
          </a:xfrm>
          <a:prstGeom prst="rect">
            <a:avLst/>
          </a:prstGeom>
        </p:spPr>
      </p:pic>
    </p:spTree>
    <p:extLst>
      <p:ext uri="{BB962C8B-B14F-4D97-AF65-F5344CB8AC3E}">
        <p14:creationId xmlns:p14="http://schemas.microsoft.com/office/powerpoint/2010/main" val="161325506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67727F1B-9007-072D-7585-3E5757839694}"/>
              </a:ext>
            </a:extLst>
          </p:cNvPr>
          <p:cNvSpPr>
            <a:spLocks noGrp="1"/>
          </p:cNvSpPr>
          <p:nvPr>
            <p:ph type="title"/>
          </p:nvPr>
        </p:nvSpPr>
        <p:spPr>
          <a:xfrm>
            <a:off x="403792" y="362502"/>
            <a:ext cx="4986130" cy="1325563"/>
          </a:xfrm>
        </p:spPr>
        <p:txBody>
          <a:bodyPr>
            <a:normAutofit/>
          </a:bodyPr>
          <a:lstStyle/>
          <a:p>
            <a:r>
              <a:rPr lang="en-IN" sz="2800" b="1" u="sng" dirty="0"/>
              <a:t>Changing data types:</a:t>
            </a:r>
          </a:p>
        </p:txBody>
      </p:sp>
      <p:pic>
        <p:nvPicPr>
          <p:cNvPr id="5" name="Content Placeholder 4">
            <a:extLst>
              <a:ext uri="{FF2B5EF4-FFF2-40B4-BE49-F238E27FC236}">
                <a16:creationId xmlns:a16="http://schemas.microsoft.com/office/drawing/2014/main" id="{1FB8EF29-BF92-A676-CCD0-CE1873CF1FFD}"/>
              </a:ext>
            </a:extLst>
          </p:cNvPr>
          <p:cNvPicPr>
            <a:picLocks noGrp="1" noChangeAspect="1"/>
          </p:cNvPicPr>
          <p:nvPr>
            <p:ph sz="half" idx="1"/>
          </p:nvPr>
        </p:nvPicPr>
        <p:blipFill>
          <a:blip r:embed="rId2"/>
          <a:stretch>
            <a:fillRect/>
          </a:stretch>
        </p:blipFill>
        <p:spPr>
          <a:xfrm>
            <a:off x="403792" y="1994142"/>
            <a:ext cx="4986129" cy="4704832"/>
          </a:xfrm>
        </p:spPr>
      </p:pic>
      <p:sp>
        <p:nvSpPr>
          <p:cNvPr id="9" name="Content Placeholder 8">
            <a:extLst>
              <a:ext uri="{FF2B5EF4-FFF2-40B4-BE49-F238E27FC236}">
                <a16:creationId xmlns:a16="http://schemas.microsoft.com/office/drawing/2014/main" id="{C1617C89-97ED-3AFC-12FE-8008AF0E9EB4}"/>
              </a:ext>
            </a:extLst>
          </p:cNvPr>
          <p:cNvSpPr>
            <a:spLocks noGrp="1"/>
          </p:cNvSpPr>
          <p:nvPr>
            <p:ph sz="half" idx="2"/>
          </p:nvPr>
        </p:nvSpPr>
        <p:spPr>
          <a:xfrm>
            <a:off x="6069496" y="365126"/>
            <a:ext cx="5718712" cy="1135684"/>
          </a:xfrm>
        </p:spPr>
        <p:txBody>
          <a:bodyPr/>
          <a:lstStyle/>
          <a:p>
            <a:pPr marL="0" indent="0">
              <a:buNone/>
            </a:pPr>
            <a:r>
              <a:rPr lang="en-IN" u="sng" dirty="0"/>
              <a:t>Checking outliers using z-score by importing </a:t>
            </a:r>
            <a:r>
              <a:rPr lang="en-IN" u="sng" dirty="0" err="1"/>
              <a:t>numpy</a:t>
            </a:r>
            <a:r>
              <a:rPr lang="en-IN" u="sng" dirty="0"/>
              <a:t>:</a:t>
            </a:r>
          </a:p>
        </p:txBody>
      </p:sp>
      <p:pic>
        <p:nvPicPr>
          <p:cNvPr id="7" name="Picture 6">
            <a:extLst>
              <a:ext uri="{FF2B5EF4-FFF2-40B4-BE49-F238E27FC236}">
                <a16:creationId xmlns:a16="http://schemas.microsoft.com/office/drawing/2014/main" id="{6B554E82-42B3-92E0-0D2A-144660BBC4C3}"/>
              </a:ext>
            </a:extLst>
          </p:cNvPr>
          <p:cNvPicPr>
            <a:picLocks noChangeAspect="1"/>
          </p:cNvPicPr>
          <p:nvPr/>
        </p:nvPicPr>
        <p:blipFill>
          <a:blip r:embed="rId3"/>
          <a:stretch>
            <a:fillRect/>
          </a:stretch>
        </p:blipFill>
        <p:spPr>
          <a:xfrm>
            <a:off x="6069496" y="1688065"/>
            <a:ext cx="5718712" cy="5685182"/>
          </a:xfrm>
          <a:prstGeom prst="rect">
            <a:avLst/>
          </a:prstGeom>
        </p:spPr>
      </p:pic>
    </p:spTree>
    <p:extLst>
      <p:ext uri="{BB962C8B-B14F-4D97-AF65-F5344CB8AC3E}">
        <p14:creationId xmlns:p14="http://schemas.microsoft.com/office/powerpoint/2010/main" val="170087762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5DFE36-DFF1-88EC-9FA3-45F939C860E7}"/>
              </a:ext>
            </a:extLst>
          </p:cNvPr>
          <p:cNvSpPr>
            <a:spLocks noGrp="1"/>
          </p:cNvSpPr>
          <p:nvPr>
            <p:ph type="title"/>
          </p:nvPr>
        </p:nvSpPr>
        <p:spPr>
          <a:xfrm>
            <a:off x="559904" y="355186"/>
            <a:ext cx="4956313" cy="1325563"/>
          </a:xfrm>
        </p:spPr>
        <p:txBody>
          <a:bodyPr>
            <a:normAutofit fontScale="90000"/>
          </a:bodyPr>
          <a:lstStyle/>
          <a:p>
            <a:r>
              <a:rPr lang="en-IN" sz="2400" b="1" u="sng" dirty="0"/>
              <a:t>Sales trend over time:</a:t>
            </a:r>
            <a:br>
              <a:rPr lang="en-IN" sz="2400" b="1" u="sng" dirty="0"/>
            </a:br>
            <a:br>
              <a:rPr lang="en-IN" sz="2400" b="1" u="sng" dirty="0"/>
            </a:br>
            <a:r>
              <a:rPr lang="en-IN" sz="2400" b="1" u="sng" dirty="0"/>
              <a:t>#Customers having highest no of orders using python:         </a:t>
            </a:r>
          </a:p>
        </p:txBody>
      </p:sp>
      <p:sp>
        <p:nvSpPr>
          <p:cNvPr id="3" name="Content Placeholder 2">
            <a:extLst>
              <a:ext uri="{FF2B5EF4-FFF2-40B4-BE49-F238E27FC236}">
                <a16:creationId xmlns:a16="http://schemas.microsoft.com/office/drawing/2014/main" id="{1426FAC1-1A95-A5A4-C0FB-6E2B0E0F36FB}"/>
              </a:ext>
            </a:extLst>
          </p:cNvPr>
          <p:cNvSpPr>
            <a:spLocks noGrp="1"/>
          </p:cNvSpPr>
          <p:nvPr>
            <p:ph idx="1"/>
          </p:nvPr>
        </p:nvSpPr>
        <p:spPr>
          <a:xfrm>
            <a:off x="6271591" y="454577"/>
            <a:ext cx="4962939" cy="1325563"/>
          </a:xfrm>
        </p:spPr>
        <p:txBody>
          <a:bodyPr>
            <a:normAutofit/>
          </a:bodyPr>
          <a:lstStyle/>
          <a:p>
            <a:pPr marL="0" indent="0">
              <a:buNone/>
            </a:pPr>
            <a:endParaRPr lang="en-IN" sz="2400" dirty="0"/>
          </a:p>
          <a:p>
            <a:pPr marL="0" indent="0">
              <a:buNone/>
            </a:pPr>
            <a:r>
              <a:rPr lang="en-IN" sz="2400" dirty="0"/>
              <a:t>#</a:t>
            </a:r>
            <a:r>
              <a:rPr lang="en-IN" sz="2400" u="sng" dirty="0">
                <a:latin typeface="Calibri (Head)"/>
              </a:rPr>
              <a:t>Customer</a:t>
            </a:r>
            <a:r>
              <a:rPr lang="en-IN" sz="2400" u="sng" dirty="0"/>
              <a:t> having highest value of orders:</a:t>
            </a:r>
          </a:p>
        </p:txBody>
      </p:sp>
      <p:pic>
        <p:nvPicPr>
          <p:cNvPr id="5" name="Picture 4">
            <a:extLst>
              <a:ext uri="{FF2B5EF4-FFF2-40B4-BE49-F238E27FC236}">
                <a16:creationId xmlns:a16="http://schemas.microsoft.com/office/drawing/2014/main" id="{8517B453-1BE9-5B46-1B73-AD6A1BC04AB3}"/>
              </a:ext>
            </a:extLst>
          </p:cNvPr>
          <p:cNvPicPr>
            <a:picLocks noChangeAspect="1"/>
          </p:cNvPicPr>
          <p:nvPr/>
        </p:nvPicPr>
        <p:blipFill>
          <a:blip r:embed="rId2"/>
          <a:stretch>
            <a:fillRect/>
          </a:stretch>
        </p:blipFill>
        <p:spPr>
          <a:xfrm>
            <a:off x="0" y="1680749"/>
            <a:ext cx="6182139" cy="5326092"/>
          </a:xfrm>
          <a:prstGeom prst="rect">
            <a:avLst/>
          </a:prstGeom>
        </p:spPr>
      </p:pic>
      <p:pic>
        <p:nvPicPr>
          <p:cNvPr id="7" name="Picture 6">
            <a:extLst>
              <a:ext uri="{FF2B5EF4-FFF2-40B4-BE49-F238E27FC236}">
                <a16:creationId xmlns:a16="http://schemas.microsoft.com/office/drawing/2014/main" id="{73F1FB0E-A2F2-4912-6408-4A6A5B50CF42}"/>
              </a:ext>
            </a:extLst>
          </p:cNvPr>
          <p:cNvPicPr>
            <a:picLocks noChangeAspect="1"/>
          </p:cNvPicPr>
          <p:nvPr/>
        </p:nvPicPr>
        <p:blipFill>
          <a:blip r:embed="rId3"/>
          <a:stretch>
            <a:fillRect/>
          </a:stretch>
        </p:blipFill>
        <p:spPr>
          <a:xfrm>
            <a:off x="6182139" y="1680750"/>
            <a:ext cx="5920409" cy="5326092"/>
          </a:xfrm>
          <a:prstGeom prst="rect">
            <a:avLst/>
          </a:prstGeom>
        </p:spPr>
      </p:pic>
    </p:spTree>
    <p:extLst>
      <p:ext uri="{BB962C8B-B14F-4D97-AF65-F5344CB8AC3E}">
        <p14:creationId xmlns:p14="http://schemas.microsoft.com/office/powerpoint/2010/main" val="48958051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6F016D-8AF2-5362-2F4D-EA7C38925644}"/>
              </a:ext>
            </a:extLst>
          </p:cNvPr>
          <p:cNvSpPr>
            <a:spLocks noGrp="1"/>
          </p:cNvSpPr>
          <p:nvPr>
            <p:ph type="title"/>
          </p:nvPr>
        </p:nvSpPr>
        <p:spPr>
          <a:xfrm>
            <a:off x="182217" y="-79547"/>
            <a:ext cx="4518991" cy="1325563"/>
          </a:xfrm>
        </p:spPr>
        <p:txBody>
          <a:bodyPr>
            <a:normAutofit/>
          </a:bodyPr>
          <a:lstStyle/>
          <a:p>
            <a:r>
              <a:rPr lang="en-IN" sz="2800" b="1" u="sng" dirty="0">
                <a:latin typeface="Calibri Light (Body)"/>
              </a:rPr>
              <a:t>Time series analysis: Monthly Sales in month-year:</a:t>
            </a:r>
            <a:br>
              <a:rPr lang="en-IN" sz="2800" b="1" dirty="0">
                <a:latin typeface="Calibri Light (Body)"/>
              </a:rPr>
            </a:br>
            <a:endParaRPr lang="en-IN" sz="2800" b="1" dirty="0">
              <a:latin typeface="Calibri Light (Body)"/>
            </a:endParaRPr>
          </a:p>
        </p:txBody>
      </p:sp>
      <p:sp>
        <p:nvSpPr>
          <p:cNvPr id="3" name="Content Placeholder 2">
            <a:extLst>
              <a:ext uri="{FF2B5EF4-FFF2-40B4-BE49-F238E27FC236}">
                <a16:creationId xmlns:a16="http://schemas.microsoft.com/office/drawing/2014/main" id="{1E5BC8EF-B7E1-00F3-EE23-41FA905242D7}"/>
              </a:ext>
            </a:extLst>
          </p:cNvPr>
          <p:cNvSpPr>
            <a:spLocks noGrp="1"/>
          </p:cNvSpPr>
          <p:nvPr>
            <p:ph idx="1"/>
          </p:nvPr>
        </p:nvSpPr>
        <p:spPr>
          <a:xfrm>
            <a:off x="6370983" y="74240"/>
            <a:ext cx="5413512" cy="1046782"/>
          </a:xfrm>
        </p:spPr>
        <p:txBody>
          <a:bodyPr/>
          <a:lstStyle/>
          <a:p>
            <a:pPr marL="0" indent="0">
              <a:buNone/>
            </a:pPr>
            <a:r>
              <a:rPr lang="en-IN" u="sng" dirty="0"/>
              <a:t>Analysing Customer Behaviour:</a:t>
            </a:r>
          </a:p>
        </p:txBody>
      </p:sp>
      <p:pic>
        <p:nvPicPr>
          <p:cNvPr id="5" name="Picture 4">
            <a:extLst>
              <a:ext uri="{FF2B5EF4-FFF2-40B4-BE49-F238E27FC236}">
                <a16:creationId xmlns:a16="http://schemas.microsoft.com/office/drawing/2014/main" id="{0C17ACBC-B6C2-F012-67A5-AC167FEB79A4}"/>
              </a:ext>
            </a:extLst>
          </p:cNvPr>
          <p:cNvPicPr>
            <a:picLocks noChangeAspect="1"/>
          </p:cNvPicPr>
          <p:nvPr/>
        </p:nvPicPr>
        <p:blipFill>
          <a:blip r:embed="rId2"/>
          <a:stretch>
            <a:fillRect/>
          </a:stretch>
        </p:blipFill>
        <p:spPr>
          <a:xfrm>
            <a:off x="79513" y="819184"/>
            <a:ext cx="6291470" cy="6237974"/>
          </a:xfrm>
          <a:prstGeom prst="rect">
            <a:avLst/>
          </a:prstGeom>
        </p:spPr>
      </p:pic>
      <p:pic>
        <p:nvPicPr>
          <p:cNvPr id="7" name="Picture 6">
            <a:extLst>
              <a:ext uri="{FF2B5EF4-FFF2-40B4-BE49-F238E27FC236}">
                <a16:creationId xmlns:a16="http://schemas.microsoft.com/office/drawing/2014/main" id="{0AB07BC6-BFE4-8FC0-FE53-6EE107328BB8}"/>
              </a:ext>
            </a:extLst>
          </p:cNvPr>
          <p:cNvPicPr>
            <a:picLocks noChangeAspect="1"/>
          </p:cNvPicPr>
          <p:nvPr/>
        </p:nvPicPr>
        <p:blipFill>
          <a:blip r:embed="rId3"/>
          <a:stretch>
            <a:fillRect/>
          </a:stretch>
        </p:blipFill>
        <p:spPr>
          <a:xfrm>
            <a:off x="6447623" y="1106625"/>
            <a:ext cx="5744377" cy="5153744"/>
          </a:xfrm>
          <a:prstGeom prst="rect">
            <a:avLst/>
          </a:prstGeom>
        </p:spPr>
      </p:pic>
    </p:spTree>
    <p:extLst>
      <p:ext uri="{BB962C8B-B14F-4D97-AF65-F5344CB8AC3E}">
        <p14:creationId xmlns:p14="http://schemas.microsoft.com/office/powerpoint/2010/main" val="216357532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115932-2F29-333A-B943-C66ED36617B6}"/>
              </a:ext>
            </a:extLst>
          </p:cNvPr>
          <p:cNvSpPr>
            <a:spLocks noGrp="1"/>
          </p:cNvSpPr>
          <p:nvPr>
            <p:ph type="title"/>
          </p:nvPr>
        </p:nvSpPr>
        <p:spPr>
          <a:xfrm>
            <a:off x="162339" y="166342"/>
            <a:ext cx="4787348" cy="1325563"/>
          </a:xfrm>
        </p:spPr>
        <p:txBody>
          <a:bodyPr/>
          <a:lstStyle/>
          <a:p>
            <a:r>
              <a:rPr lang="en-IN" sz="2800" b="1" u="sng" dirty="0"/>
              <a:t>Churn analysis:</a:t>
            </a:r>
            <a:br>
              <a:rPr lang="en-IN" sz="2800" dirty="0"/>
            </a:br>
            <a:r>
              <a:rPr lang="en-IN" sz="2800" u="sng" dirty="0"/>
              <a:t>Counting no of churn and active customers:</a:t>
            </a:r>
          </a:p>
        </p:txBody>
      </p:sp>
      <p:sp>
        <p:nvSpPr>
          <p:cNvPr id="3" name="Content Placeholder 2">
            <a:extLst>
              <a:ext uri="{FF2B5EF4-FFF2-40B4-BE49-F238E27FC236}">
                <a16:creationId xmlns:a16="http://schemas.microsoft.com/office/drawing/2014/main" id="{5884BD4D-CE53-23A2-3482-9CC61864B436}"/>
              </a:ext>
            </a:extLst>
          </p:cNvPr>
          <p:cNvSpPr>
            <a:spLocks noGrp="1"/>
          </p:cNvSpPr>
          <p:nvPr>
            <p:ph idx="1"/>
          </p:nvPr>
        </p:nvSpPr>
        <p:spPr>
          <a:xfrm>
            <a:off x="6096000" y="526773"/>
            <a:ext cx="4787348" cy="1064523"/>
          </a:xfrm>
        </p:spPr>
        <p:txBody>
          <a:bodyPr>
            <a:normAutofit/>
          </a:bodyPr>
          <a:lstStyle/>
          <a:p>
            <a:pPr marL="0" indent="0">
              <a:buNone/>
            </a:pPr>
            <a:r>
              <a:rPr lang="en-IN" u="sng" dirty="0"/>
              <a:t>Analysing Top customers of particular month-year</a:t>
            </a:r>
            <a:r>
              <a:rPr lang="en-IN" dirty="0"/>
              <a:t>:</a:t>
            </a:r>
          </a:p>
        </p:txBody>
      </p:sp>
      <p:pic>
        <p:nvPicPr>
          <p:cNvPr id="5" name="Picture 4">
            <a:extLst>
              <a:ext uri="{FF2B5EF4-FFF2-40B4-BE49-F238E27FC236}">
                <a16:creationId xmlns:a16="http://schemas.microsoft.com/office/drawing/2014/main" id="{40018444-D9DE-5E08-2B56-C9FCB5EB1EE0}"/>
              </a:ext>
            </a:extLst>
          </p:cNvPr>
          <p:cNvPicPr>
            <a:picLocks noChangeAspect="1"/>
          </p:cNvPicPr>
          <p:nvPr/>
        </p:nvPicPr>
        <p:blipFill>
          <a:blip r:embed="rId2"/>
          <a:stretch>
            <a:fillRect/>
          </a:stretch>
        </p:blipFill>
        <p:spPr>
          <a:xfrm>
            <a:off x="0" y="1690688"/>
            <a:ext cx="6480313" cy="5401429"/>
          </a:xfrm>
          <a:prstGeom prst="rect">
            <a:avLst/>
          </a:prstGeom>
        </p:spPr>
      </p:pic>
      <p:pic>
        <p:nvPicPr>
          <p:cNvPr id="9" name="Picture 8">
            <a:extLst>
              <a:ext uri="{FF2B5EF4-FFF2-40B4-BE49-F238E27FC236}">
                <a16:creationId xmlns:a16="http://schemas.microsoft.com/office/drawing/2014/main" id="{EAC74661-A847-B517-6CA6-37E6879E06D4}"/>
              </a:ext>
            </a:extLst>
          </p:cNvPr>
          <p:cNvPicPr>
            <a:picLocks noChangeAspect="1"/>
          </p:cNvPicPr>
          <p:nvPr/>
        </p:nvPicPr>
        <p:blipFill>
          <a:blip r:embed="rId3"/>
          <a:stretch>
            <a:fillRect/>
          </a:stretch>
        </p:blipFill>
        <p:spPr>
          <a:xfrm>
            <a:off x="6096000" y="1491905"/>
            <a:ext cx="6096000" cy="5534797"/>
          </a:xfrm>
          <a:prstGeom prst="rect">
            <a:avLst/>
          </a:prstGeom>
        </p:spPr>
      </p:pic>
    </p:spTree>
    <p:extLst>
      <p:ext uri="{BB962C8B-B14F-4D97-AF65-F5344CB8AC3E}">
        <p14:creationId xmlns:p14="http://schemas.microsoft.com/office/powerpoint/2010/main" val="8885970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0D4C56-1972-269B-8629-BCF8A8C37D6E}"/>
              </a:ext>
            </a:extLst>
          </p:cNvPr>
          <p:cNvSpPr>
            <a:spLocks noGrp="1"/>
          </p:cNvSpPr>
          <p:nvPr>
            <p:ph type="title"/>
          </p:nvPr>
        </p:nvSpPr>
        <p:spPr/>
        <p:txBody>
          <a:bodyPr>
            <a:normAutofit/>
          </a:bodyPr>
          <a:lstStyle/>
          <a:p>
            <a:r>
              <a:rPr lang="en-IN" sz="2800" b="1" u="sng" dirty="0"/>
              <a:t>Summarized data:</a:t>
            </a:r>
            <a:br>
              <a:rPr lang="en-IN" sz="2800" dirty="0"/>
            </a:br>
            <a:r>
              <a:rPr lang="en-IN" sz="2800" dirty="0"/>
              <a:t>Converted to csv file and exported to excel</a:t>
            </a:r>
          </a:p>
        </p:txBody>
      </p:sp>
      <p:pic>
        <p:nvPicPr>
          <p:cNvPr id="5" name="Content Placeholder 4">
            <a:extLst>
              <a:ext uri="{FF2B5EF4-FFF2-40B4-BE49-F238E27FC236}">
                <a16:creationId xmlns:a16="http://schemas.microsoft.com/office/drawing/2014/main" id="{9E0DF856-59AD-C6A7-A5C0-BD5D325780E1}"/>
              </a:ext>
            </a:extLst>
          </p:cNvPr>
          <p:cNvPicPr>
            <a:picLocks noGrp="1" noChangeAspect="1"/>
          </p:cNvPicPr>
          <p:nvPr>
            <p:ph idx="1"/>
          </p:nvPr>
        </p:nvPicPr>
        <p:blipFill>
          <a:blip r:embed="rId2"/>
          <a:stretch>
            <a:fillRect/>
          </a:stretch>
        </p:blipFill>
        <p:spPr>
          <a:xfrm>
            <a:off x="606287" y="1690688"/>
            <a:ext cx="8736495" cy="4351338"/>
          </a:xfrm>
        </p:spPr>
      </p:pic>
    </p:spTree>
    <p:extLst>
      <p:ext uri="{BB962C8B-B14F-4D97-AF65-F5344CB8AC3E}">
        <p14:creationId xmlns:p14="http://schemas.microsoft.com/office/powerpoint/2010/main" val="193440716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1BE1C1-C78A-B8AF-206E-A16152E830AD}"/>
              </a:ext>
            </a:extLst>
          </p:cNvPr>
          <p:cNvSpPr>
            <a:spLocks noGrp="1"/>
          </p:cNvSpPr>
          <p:nvPr>
            <p:ph type="title"/>
          </p:nvPr>
        </p:nvSpPr>
        <p:spPr>
          <a:xfrm>
            <a:off x="172279" y="186220"/>
            <a:ext cx="5145157" cy="1325563"/>
          </a:xfrm>
        </p:spPr>
        <p:txBody>
          <a:bodyPr>
            <a:normAutofit/>
          </a:bodyPr>
          <a:lstStyle/>
          <a:p>
            <a:r>
              <a:rPr lang="en-IN" sz="2800" b="1" dirty="0"/>
              <a:t>Time Series plot using pivot table in Excel:</a:t>
            </a:r>
            <a:br>
              <a:rPr lang="en-IN" sz="2800" b="1" dirty="0"/>
            </a:br>
            <a:r>
              <a:rPr lang="en-IN" sz="2800" b="1" dirty="0"/>
              <a:t>Line Graph:</a:t>
            </a:r>
          </a:p>
        </p:txBody>
      </p:sp>
      <p:sp>
        <p:nvSpPr>
          <p:cNvPr id="3" name="Content Placeholder 2">
            <a:extLst>
              <a:ext uri="{FF2B5EF4-FFF2-40B4-BE49-F238E27FC236}">
                <a16:creationId xmlns:a16="http://schemas.microsoft.com/office/drawing/2014/main" id="{34C327D3-B92C-7E05-389F-377F67DF7272}"/>
              </a:ext>
            </a:extLst>
          </p:cNvPr>
          <p:cNvSpPr>
            <a:spLocks noGrp="1"/>
          </p:cNvSpPr>
          <p:nvPr>
            <p:ph idx="1"/>
          </p:nvPr>
        </p:nvSpPr>
        <p:spPr>
          <a:xfrm>
            <a:off x="6096000" y="973482"/>
            <a:ext cx="3998843" cy="1076601"/>
          </a:xfrm>
        </p:spPr>
        <p:txBody>
          <a:bodyPr/>
          <a:lstStyle/>
          <a:p>
            <a:pPr marL="0" indent="0">
              <a:buNone/>
            </a:pPr>
            <a:r>
              <a:rPr lang="en-IN" dirty="0"/>
              <a:t>Column Graph:</a:t>
            </a:r>
          </a:p>
        </p:txBody>
      </p:sp>
      <p:pic>
        <p:nvPicPr>
          <p:cNvPr id="5" name="Picture 4">
            <a:extLst>
              <a:ext uri="{FF2B5EF4-FFF2-40B4-BE49-F238E27FC236}">
                <a16:creationId xmlns:a16="http://schemas.microsoft.com/office/drawing/2014/main" id="{746C9DB2-46CE-D576-A904-7B81DFD38B09}"/>
              </a:ext>
            </a:extLst>
          </p:cNvPr>
          <p:cNvPicPr>
            <a:picLocks noChangeAspect="1"/>
          </p:cNvPicPr>
          <p:nvPr/>
        </p:nvPicPr>
        <p:blipFill>
          <a:blip r:embed="rId2"/>
          <a:stretch>
            <a:fillRect/>
          </a:stretch>
        </p:blipFill>
        <p:spPr>
          <a:xfrm>
            <a:off x="172279" y="1934573"/>
            <a:ext cx="5744377" cy="3505689"/>
          </a:xfrm>
          <a:prstGeom prst="rect">
            <a:avLst/>
          </a:prstGeom>
        </p:spPr>
      </p:pic>
      <p:pic>
        <p:nvPicPr>
          <p:cNvPr id="7" name="Picture 6">
            <a:extLst>
              <a:ext uri="{FF2B5EF4-FFF2-40B4-BE49-F238E27FC236}">
                <a16:creationId xmlns:a16="http://schemas.microsoft.com/office/drawing/2014/main" id="{4BA874D2-A122-E702-62F2-687E451B3415}"/>
              </a:ext>
            </a:extLst>
          </p:cNvPr>
          <p:cNvPicPr>
            <a:picLocks noChangeAspect="1"/>
          </p:cNvPicPr>
          <p:nvPr/>
        </p:nvPicPr>
        <p:blipFill>
          <a:blip r:embed="rId3"/>
          <a:stretch>
            <a:fillRect/>
          </a:stretch>
        </p:blipFill>
        <p:spPr>
          <a:xfrm>
            <a:off x="6096000" y="1934573"/>
            <a:ext cx="5744377" cy="3410426"/>
          </a:xfrm>
          <a:prstGeom prst="rect">
            <a:avLst/>
          </a:prstGeom>
        </p:spPr>
      </p:pic>
    </p:spTree>
    <p:extLst>
      <p:ext uri="{BB962C8B-B14F-4D97-AF65-F5344CB8AC3E}">
        <p14:creationId xmlns:p14="http://schemas.microsoft.com/office/powerpoint/2010/main" val="223572146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8">
            <a:extLst>
              <a:ext uri="{FF2B5EF4-FFF2-40B4-BE49-F238E27FC236}">
                <a16:creationId xmlns:a16="http://schemas.microsoft.com/office/drawing/2014/main" id="{DA51D4AA-3E8B-F0B5-38B5-E52377E9C100}"/>
              </a:ext>
            </a:extLst>
          </p:cNvPr>
          <p:cNvSpPr>
            <a:spLocks noGrp="1"/>
          </p:cNvSpPr>
          <p:nvPr>
            <p:ph type="title"/>
          </p:nvPr>
        </p:nvSpPr>
        <p:spPr>
          <a:xfrm>
            <a:off x="109329" y="276156"/>
            <a:ext cx="5178288" cy="984388"/>
          </a:xfrm>
        </p:spPr>
        <p:txBody>
          <a:bodyPr>
            <a:normAutofit/>
          </a:bodyPr>
          <a:lstStyle/>
          <a:p>
            <a:r>
              <a:rPr lang="en-IN" sz="2800" b="1" dirty="0"/>
              <a:t>Scatter plot to show extend of monetary values in excel:</a:t>
            </a:r>
          </a:p>
        </p:txBody>
      </p:sp>
      <p:sp>
        <p:nvSpPr>
          <p:cNvPr id="12" name="Text Placeholder 11">
            <a:extLst>
              <a:ext uri="{FF2B5EF4-FFF2-40B4-BE49-F238E27FC236}">
                <a16:creationId xmlns:a16="http://schemas.microsoft.com/office/drawing/2014/main" id="{599084EE-EBE8-EF4E-2AFE-919524B9D1D8}"/>
              </a:ext>
            </a:extLst>
          </p:cNvPr>
          <p:cNvSpPr>
            <a:spLocks noGrp="1"/>
          </p:cNvSpPr>
          <p:nvPr>
            <p:ph type="body" idx="1"/>
          </p:nvPr>
        </p:nvSpPr>
        <p:spPr>
          <a:xfrm>
            <a:off x="305076" y="5544723"/>
            <a:ext cx="10515600" cy="984388"/>
          </a:xfrm>
        </p:spPr>
        <p:txBody>
          <a:bodyPr>
            <a:normAutofit lnSpcReduction="10000"/>
          </a:bodyPr>
          <a:lstStyle/>
          <a:p>
            <a:r>
              <a:rPr lang="en-IN" dirty="0"/>
              <a:t>Like this, we can plot different types of graphs and chart to show </a:t>
            </a:r>
            <a:r>
              <a:rPr lang="en-US" dirty="0"/>
              <a:t>key findings include significant sales trends, seasonal patterns, and customer purchasing behaviors that can inform strategic decisions.</a:t>
            </a:r>
            <a:endParaRPr lang="en-IN" dirty="0"/>
          </a:p>
        </p:txBody>
      </p:sp>
      <p:pic>
        <p:nvPicPr>
          <p:cNvPr id="11" name="Picture 10">
            <a:extLst>
              <a:ext uri="{FF2B5EF4-FFF2-40B4-BE49-F238E27FC236}">
                <a16:creationId xmlns:a16="http://schemas.microsoft.com/office/drawing/2014/main" id="{E7F6B75F-F05A-7238-E83A-70056DDFC713}"/>
              </a:ext>
            </a:extLst>
          </p:cNvPr>
          <p:cNvPicPr>
            <a:picLocks noChangeAspect="1"/>
          </p:cNvPicPr>
          <p:nvPr/>
        </p:nvPicPr>
        <p:blipFill>
          <a:blip r:embed="rId2"/>
          <a:stretch>
            <a:fillRect/>
          </a:stretch>
        </p:blipFill>
        <p:spPr>
          <a:xfrm>
            <a:off x="1244687" y="1411356"/>
            <a:ext cx="5687219" cy="3486637"/>
          </a:xfrm>
          <a:prstGeom prst="rect">
            <a:avLst/>
          </a:prstGeom>
        </p:spPr>
      </p:pic>
    </p:spTree>
    <p:extLst>
      <p:ext uri="{BB962C8B-B14F-4D97-AF65-F5344CB8AC3E}">
        <p14:creationId xmlns:p14="http://schemas.microsoft.com/office/powerpoint/2010/main" val="303405205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4CD615-727F-877E-F972-612FEDAEE262}"/>
              </a:ext>
            </a:extLst>
          </p:cNvPr>
          <p:cNvSpPr>
            <a:spLocks noGrp="1"/>
          </p:cNvSpPr>
          <p:nvPr>
            <p:ph type="title"/>
          </p:nvPr>
        </p:nvSpPr>
        <p:spPr/>
        <p:txBody>
          <a:bodyPr/>
          <a:lstStyle/>
          <a:p>
            <a:r>
              <a:rPr lang="en-IN" b="1" dirty="0"/>
              <a:t>SUMMARIZING THE FINDINGS</a:t>
            </a:r>
            <a:r>
              <a:rPr lang="en-IN" dirty="0"/>
              <a:t>:</a:t>
            </a:r>
          </a:p>
        </p:txBody>
      </p:sp>
      <p:sp>
        <p:nvSpPr>
          <p:cNvPr id="3" name="Content Placeholder 2">
            <a:extLst>
              <a:ext uri="{FF2B5EF4-FFF2-40B4-BE49-F238E27FC236}">
                <a16:creationId xmlns:a16="http://schemas.microsoft.com/office/drawing/2014/main" id="{3BD7A2BB-50D9-2C10-2863-38145D47A71C}"/>
              </a:ext>
            </a:extLst>
          </p:cNvPr>
          <p:cNvSpPr>
            <a:spLocks noGrp="1"/>
          </p:cNvSpPr>
          <p:nvPr>
            <p:ph idx="1"/>
          </p:nvPr>
        </p:nvSpPr>
        <p:spPr/>
        <p:txBody>
          <a:bodyPr/>
          <a:lstStyle/>
          <a:p>
            <a:r>
              <a:rPr lang="en-US" dirty="0"/>
              <a:t>This report presents the findings from an extensive analysis of sales data for a retail chain, using Python, SQL, and Excel. The aim was to generate actionable insights into sales trends, customer behavior, and overall performance. The analysis involved data collection, cleaning, preparation, and advanced analytics. Key findings include significant sales trends, seasonal patterns, and customer purchasing behaviors that can inform strategic decisions.</a:t>
            </a:r>
            <a:endParaRPr lang="en-IN" dirty="0"/>
          </a:p>
        </p:txBody>
      </p:sp>
      <mc:AlternateContent xmlns:mc="http://schemas.openxmlformats.org/markup-compatibility/2006">
        <mc:Choice xmlns:pslz="http://schemas.microsoft.com/office/powerpoint/2016/slidezoom" Requires="pslz">
          <p:graphicFrame>
            <p:nvGraphicFramePr>
              <p:cNvPr id="5" name="Slide Zoom 4">
                <a:extLst>
                  <a:ext uri="{FF2B5EF4-FFF2-40B4-BE49-F238E27FC236}">
                    <a16:creationId xmlns:a16="http://schemas.microsoft.com/office/drawing/2014/main" id="{F524D34E-2486-D370-F081-805E2F22F4D7}"/>
                  </a:ext>
                </a:extLst>
              </p:cNvPr>
              <p:cNvGraphicFramePr>
                <a:graphicFrameLocks noChangeAspect="1"/>
              </p:cNvGraphicFramePr>
              <p:nvPr>
                <p:extLst>
                  <p:ext uri="{D42A27DB-BD31-4B8C-83A1-F6EECF244321}">
                    <p14:modId xmlns:p14="http://schemas.microsoft.com/office/powerpoint/2010/main" val="3818784951"/>
                  </p:ext>
                </p:extLst>
              </p:nvPr>
            </p:nvGraphicFramePr>
            <p:xfrm>
              <a:off x="-3292685" y="5444159"/>
              <a:ext cx="3048000" cy="1714500"/>
            </p:xfrm>
            <a:graphic>
              <a:graphicData uri="http://schemas.microsoft.com/office/powerpoint/2016/slidezoom">
                <pslz:sldZm>
                  <pslz:sldZmObj sldId="257" cId="513641492">
                    <pslz:zmPr id="{31D33C05-D2E6-4990-A2A0-4755A701CA03}" returnToParent="0" transitionDur="1000">
                      <p166:blipFill xmlns:p166="http://schemas.microsoft.com/office/powerpoint/2016/6/main">
                        <a:blip r:embed="rId2"/>
                        <a:stretch>
                          <a:fillRect/>
                        </a:stretch>
                      </p166:blipFill>
                      <p166:spPr xmlns:p166="http://schemas.microsoft.com/office/powerpoint/2016/6/main">
                        <a:xfrm>
                          <a:off x="0" y="0"/>
                          <a:ext cx="3048000" cy="1714500"/>
                        </a:xfrm>
                        <a:prstGeom prst="rect">
                          <a:avLst/>
                        </a:prstGeom>
                        <a:ln w="3175">
                          <a:solidFill>
                            <a:prstClr val="ltGray"/>
                          </a:solidFill>
                        </a:ln>
                      </p166:spPr>
                    </pslz:zmPr>
                  </pslz:sldZmObj>
                </pslz:sldZm>
              </a:graphicData>
            </a:graphic>
          </p:graphicFrame>
        </mc:Choice>
        <mc:Fallback>
          <p:pic>
            <p:nvPicPr>
              <p:cNvPr id="5" name="Slide Zoom 4">
                <a:hlinkClick r:id="rId3" action="ppaction://hlinksldjump"/>
                <a:extLst>
                  <a:ext uri="{FF2B5EF4-FFF2-40B4-BE49-F238E27FC236}">
                    <a16:creationId xmlns:a16="http://schemas.microsoft.com/office/drawing/2014/main" id="{F524D34E-2486-D370-F081-805E2F22F4D7}"/>
                  </a:ext>
                </a:extLst>
              </p:cNvPr>
              <p:cNvPicPr>
                <a:picLocks noGrp="1" noRot="1" noChangeAspect="1" noMove="1" noResize="1" noEditPoints="1" noAdjustHandles="1" noChangeArrowheads="1" noChangeShapeType="1"/>
              </p:cNvPicPr>
              <p:nvPr/>
            </p:nvPicPr>
            <p:blipFill>
              <a:blip r:embed="rId2"/>
              <a:stretch>
                <a:fillRect/>
              </a:stretch>
            </p:blipFill>
            <p:spPr>
              <a:xfrm>
                <a:off x="-3292685" y="5444159"/>
                <a:ext cx="3048000" cy="1714500"/>
              </a:xfrm>
              <a:prstGeom prst="rect">
                <a:avLst/>
              </a:prstGeom>
              <a:ln w="3175">
                <a:solidFill>
                  <a:prstClr val="ltGray"/>
                </a:solidFill>
              </a:ln>
            </p:spPr>
          </p:pic>
        </mc:Fallback>
      </mc:AlternateContent>
    </p:spTree>
    <p:extLst>
      <p:ext uri="{BB962C8B-B14F-4D97-AF65-F5344CB8AC3E}">
        <p14:creationId xmlns:p14="http://schemas.microsoft.com/office/powerpoint/2010/main" val="51364149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TotalTime>
  <Words>363</Words>
  <Application>Microsoft Office PowerPoint</Application>
  <PresentationFormat>Widescreen</PresentationFormat>
  <Paragraphs>28</Paragraphs>
  <Slides>13</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13</vt:i4>
      </vt:variant>
    </vt:vector>
  </HeadingPairs>
  <TitlesOfParts>
    <vt:vector size="19" baseType="lpstr">
      <vt:lpstr>Arial</vt:lpstr>
      <vt:lpstr>Calibri</vt:lpstr>
      <vt:lpstr>Calibri (Head)</vt:lpstr>
      <vt:lpstr>Calibri Light</vt:lpstr>
      <vt:lpstr>Calibri Light (Body)</vt:lpstr>
      <vt:lpstr>Office Theme</vt:lpstr>
      <vt:lpstr>INTERNSHIP PROJECT</vt:lpstr>
      <vt:lpstr>OBJECTIVE:</vt:lpstr>
      <vt:lpstr>SUMMARY TABLE BY USING SQL QUERIES Doing basic analysis: </vt:lpstr>
      <vt:lpstr>PowerPoint Presentation</vt:lpstr>
      <vt:lpstr>Exploring Data types, shape, head &amp;tail               Finding missing values and droping the null values    and statistical values of the data.</vt:lpstr>
      <vt:lpstr>Changing data types:</vt:lpstr>
      <vt:lpstr>Sales trend over time:  #Customers having highest no of orders using python:         </vt:lpstr>
      <vt:lpstr>Time series analysis: Monthly Sales in month-year: </vt:lpstr>
      <vt:lpstr>Churn analysis: Counting no of churn and active customers:</vt:lpstr>
      <vt:lpstr>Summarized data: Converted to csv file and exported to excel</vt:lpstr>
      <vt:lpstr>Time Series plot using pivot table in Excel: Line Graph:</vt:lpstr>
      <vt:lpstr>Scatter plot to show extend of monetary values in excel:</vt:lpstr>
      <vt:lpstr>SUMMARIZING THE FINDINGS: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Abhisha Oli</dc:creator>
  <cp:lastModifiedBy>Abhisha Oli</cp:lastModifiedBy>
  <cp:revision>1</cp:revision>
  <dcterms:created xsi:type="dcterms:W3CDTF">2024-08-17T13:38:05Z</dcterms:created>
  <dcterms:modified xsi:type="dcterms:W3CDTF">2024-08-17T13:41:15Z</dcterms:modified>
</cp:coreProperties>
</file>